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205" y="761999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2438400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752956" y="597013"/>
            <a:ext cx="685782" cy="520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7288" y="1504950"/>
            <a:ext cx="92866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2080"/>
              </a:spcAft>
            </a:pPr>
            <a:r>
              <a:rPr sz="3588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Bank Customer Churn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2514600"/>
            <a:ext cx="1219169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2DD4B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2340" y="2857500"/>
            <a:ext cx="347653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BFDBFE"/>
                </a:solidFill>
                <a:latin typeface="Montserrat"/>
                <a:rFonts ascii="Montserrat" hAnsi="Montserrat" eastAsia="Montserrat" cs="Montserrat"/>
              </a:rPr>
              <a:t>Why Are Customers Leaving?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5172" y="3619499"/>
            <a:ext cx="39718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3120"/>
              </a:spcAft>
            </a:pPr>
            <a:r>
              <a:rPr sz="119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 Data-Driven Analysis of Bank Customer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7113" y="4648200"/>
            <a:ext cx="32574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Edward Agyemang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7113" y="5029200"/>
            <a:ext cx="32574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Master of Professional Studies in 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7113" y="5372100"/>
            <a:ext cx="32574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Northeastern University, Vancouver Campus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9094" y="6153149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Roboto"/>
                <a:rFonts ascii="Roboto" hAnsi="Roboto" eastAsia="Roboto" cs="Roboto"/>
              </a:rPr>
              <a:t>ALY 6000 — Project 4A |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9" y="1523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6291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The Cost of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638299"/>
            <a:ext cx="6124421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Customer churn is one of the most expensive problems in the financial industry. Understanding who's at risk allows banks to act early.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3124932"/>
            <a:ext cx="304792" cy="24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773" y="3057525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20.4% Churn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773" y="3362324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1 in 5 customers already left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966063"/>
            <a:ext cx="304792" cy="1641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773" y="3857625"/>
            <a:ext cx="28574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5x Acquisition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773" y="4162424"/>
            <a:ext cx="28574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More expensive to acquire than retain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4730994"/>
            <a:ext cx="304792" cy="234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773" y="4657725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Revenue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73" y="4962525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Direct effect on annual income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9584" y="5504717"/>
            <a:ext cx="304792" cy="2872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6773" y="5457825"/>
            <a:ext cx="34574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Targeted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73" y="5762625"/>
            <a:ext cx="34574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Early intervention significantly reduces losses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7018" y="2247899"/>
            <a:ext cx="2676458" cy="3181350"/>
          </a:xfrm>
          <a:prstGeom prst="roundRect">
            <a:avLst>
              <a:gd name="adj" fmla="val 11387"/>
            </a:avLst>
          </a:prstGeom>
          <a:gradFill rotWithShape="1">
            <a:gsLst>
              <a:gs pos="0">
                <a:srgbClr val="3B82F6"/>
              </a:gs>
              <a:gs pos="100000">
                <a:srgbClr val="14B8A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7018" y="2247899"/>
            <a:ext cx="2676458" cy="3181350"/>
          </a:xfrm>
          <a:prstGeom prst="roundRect">
            <a:avLst>
              <a:gd name="adj" fmla="val 11387"/>
            </a:avLst>
          </a:prstGeom>
          <a:solidFill>
            <a:srgbClr val="1E293B">
              <a:alpha val="8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15217" y="2686811"/>
            <a:ext cx="609584" cy="34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91335" y="3467100"/>
            <a:ext cx="20478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520"/>
              </a:spcAft>
            </a:pPr>
            <a:r>
              <a:rPr sz="3588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20.4%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1335" y="4114800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Overall Churn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1335" y="4838699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2,037</a:t>
            </a:r>
            <a:r>
              <a:rPr sz="107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 of 10,000 customers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3961" y="1523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35527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523999"/>
            <a:ext cx="4009924" cy="1162050"/>
          </a:xfrm>
          <a:prstGeom prst="roundRect">
            <a:avLst>
              <a:gd name="adj" fmla="val 1967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2003862"/>
            <a:ext cx="342891" cy="1832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6793" y="1714500"/>
            <a:ext cx="153348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793" y="2209800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876549"/>
            <a:ext cx="4009924" cy="1009649"/>
          </a:xfrm>
          <a:prstGeom prst="roundRect">
            <a:avLst>
              <a:gd name="adj" fmla="val 226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3227004"/>
            <a:ext cx="342891" cy="2896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6793" y="3067050"/>
            <a:ext cx="25907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France • Germany • Spain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793" y="3409950"/>
            <a:ext cx="25907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3 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4076699"/>
            <a:ext cx="1924001" cy="933449"/>
          </a:xfrm>
          <a:prstGeom prst="roundRect">
            <a:avLst>
              <a:gd name="adj" fmla="val 2448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505" y="4229100"/>
            <a:ext cx="16001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05" y="4610099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Variables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5982" y="4076699"/>
            <a:ext cx="1924001" cy="933449"/>
          </a:xfrm>
          <a:prstGeom prst="roundRect">
            <a:avLst>
              <a:gd name="adj" fmla="val 2448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7903" y="4229100"/>
            <a:ext cx="16001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DD4BF"/>
                </a:solidFill>
                <a:latin typeface="Montserrat"/>
                <a:rFonts ascii="Montserrat" hAnsi="Montserrat" eastAsia="Montserrat" cs="Montserrat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7903" y="4610099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Missing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5200650"/>
            <a:ext cx="4009924" cy="952499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2563EB"/>
              </a:gs>
              <a:gs pos="100000">
                <a:srgbClr val="0D948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5414596"/>
            <a:ext cx="304792" cy="2579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9169" y="539115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Target 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169" y="5695949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FF6FF"/>
                </a:solidFill>
                <a:latin typeface="Roboto"/>
                <a:rFonts ascii="Roboto" hAnsi="Roboto" eastAsia="Roboto" cs="Roboto"/>
              </a:rPr>
              <a:t>Exited (Churned/Stayed)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1490" y="2400300"/>
            <a:ext cx="6200619" cy="2876549"/>
          </a:xfrm>
          <a:prstGeom prst="roundRect">
            <a:avLst>
              <a:gd name="adj" fmla="val 7947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9609" y="2628900"/>
            <a:ext cx="572438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Key Variables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19609" y="31622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10104" y="3086100"/>
            <a:ext cx="8286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Credit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1335" y="31622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81830" y="3086100"/>
            <a:ext cx="7334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Geography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19609" y="35051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0104" y="3429000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Gender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1335" y="35051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81830" y="3429000"/>
            <a:ext cx="2666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19609" y="38480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0104" y="3771900"/>
            <a:ext cx="4667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Tenure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1335" y="38480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1830" y="3771900"/>
            <a:ext cx="5429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Balance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19609" y="41909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0104" y="4114800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Number of Products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1335" y="41909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1830" y="4114800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Credit Card Status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19609" y="45339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10104" y="4457700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Active Member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1335" y="45339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81830" y="4457700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Estimated Salary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19609" y="4876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10104" y="4800600"/>
            <a:ext cx="9905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Exited (Target)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70006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1: The Scale of 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152650"/>
            <a:ext cx="4086122" cy="1352549"/>
          </a:xfrm>
          <a:prstGeom prst="roundRect">
            <a:avLst>
              <a:gd name="adj" fmla="val 16901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47703" y="2608957"/>
            <a:ext cx="380990" cy="3065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2991" y="2381250"/>
            <a:ext cx="140966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20.4%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2991" y="2876549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Overall Churn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7337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456" y="3809999"/>
            <a:ext cx="857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72" y="373379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2,037 customers left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72" y="400050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Out of 10,000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43814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456" y="4457700"/>
            <a:ext cx="857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72" y="4381499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Industry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72" y="4648200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Healthy churn: below 5-10%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502920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456" y="5105400"/>
            <a:ext cx="857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72" y="5029200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Revenue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72" y="5295899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Potential $2M lost annually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5292" y="1162050"/>
            <a:ext cx="6276818" cy="5353049"/>
          </a:xfrm>
          <a:prstGeom prst="roundRect">
            <a:avLst>
              <a:gd name="adj" fmla="val 4270"/>
            </a:avLst>
          </a:prstGeom>
          <a:gradFill rotWithShape="1">
            <a:gsLst>
              <a:gs pos="0">
                <a:srgbClr val="3B82F6"/>
              </a:gs>
              <a:gs pos="100000">
                <a:srgbClr val="14B8A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5292" y="1162050"/>
            <a:ext cx="6276818" cy="5353049"/>
          </a:xfrm>
          <a:prstGeom prst="roundRect">
            <a:avLst>
              <a:gd name="adj" fmla="val 4270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05312" y="1352549"/>
            <a:ext cx="5876778" cy="4952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205" y="761999"/>
            <a:ext cx="3657508" cy="3657600"/>
          </a:xfrm>
          <a:prstGeom prst="roundRect">
            <a:avLst>
              <a:gd name="adj" fmla="val 5207812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847703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2: Germany Has a Serious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885950"/>
            <a:ext cx="4086122" cy="154305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2109421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8694" y="2105024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Germany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2466975"/>
            <a:ext cx="167635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32.44%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259" y="2657475"/>
            <a:ext cx="8572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churn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3000375"/>
            <a:ext cx="36860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CA5A5"/>
                </a:solidFill>
                <a:latin typeface="Roboto"/>
                <a:rFonts ascii="Roboto" hAnsi="Roboto" eastAsia="Roboto" cs="Roboto"/>
              </a:rPr>
              <a:t>Nearly 2x higher than France &amp; Spain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619499"/>
            <a:ext cx="1962100" cy="857250"/>
          </a:xfrm>
          <a:prstGeom prst="roundRect">
            <a:avLst>
              <a:gd name="adj" fmla="val 177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505" y="3781424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05" y="4010024"/>
            <a:ext cx="16382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16.15%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081" y="3619499"/>
            <a:ext cx="1962100" cy="857250"/>
          </a:xfrm>
          <a:prstGeom prst="roundRect">
            <a:avLst>
              <a:gd name="adj" fmla="val 177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6002" y="3781424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Spain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6002" y="4010024"/>
            <a:ext cx="16382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16.67%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70535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804522"/>
            <a:ext cx="190495" cy="1064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8674" y="4667249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25% of customer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674" y="4933950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2,509 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31495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388908"/>
            <a:ext cx="190495" cy="1568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28674" y="52768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Disproportionate churn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674" y="55435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Requires immediate investigation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gradFill rotWithShape="1">
            <a:gsLst>
              <a:gs pos="0">
                <a:srgbClr val="EF4444"/>
              </a:gs>
              <a:gs pos="100000">
                <a:srgbClr val="F9731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05312" y="1304925"/>
            <a:ext cx="5876778" cy="504825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9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810557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3: Age is the Strongest Predictor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057400"/>
            <a:ext cx="1962100" cy="1057275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2270677"/>
            <a:ext cx="266693" cy="144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397" y="2228850"/>
            <a:ext cx="5714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05" y="2552700"/>
            <a:ext cx="80007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44.8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7783" y="2686050"/>
            <a:ext cx="4095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081" y="2057400"/>
            <a:ext cx="1962100" cy="1057275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1E3A8A"/>
              </a:gs>
              <a:gs pos="100000">
                <a:srgbClr val="1E40AF"/>
              </a:gs>
            </a:gsLst>
            <a:lin scaled="0" ang="8100000"/>
          </a:gradFill>
          <a:ln w="825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886002" y="2270677"/>
            <a:ext cx="266693" cy="1449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28894" y="2228850"/>
            <a:ext cx="4667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6002" y="2552700"/>
            <a:ext cx="72388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37.4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082" y="2686050"/>
            <a:ext cx="4095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257550"/>
            <a:ext cx="4086122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EA580C"/>
              </a:gs>
              <a:gs pos="100000">
                <a:srgbClr val="D97706"/>
              </a:gs>
            </a:gsLst>
            <a:lin scaled="0" ang="10800000"/>
          </a:gra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3676978"/>
            <a:ext cx="342891" cy="2660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6793" y="3467100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EDD5"/>
                </a:solidFill>
                <a:latin typeface="Roboto"/>
                <a:rFonts ascii="Roboto" hAnsi="Roboto" eastAsia="Roboto" cs="Roboto"/>
              </a:rPr>
              <a:t>Age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793" y="3695699"/>
            <a:ext cx="168588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7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5132" y="3581400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EDD5"/>
                </a:solidFill>
                <a:latin typeface="Roboto"/>
                <a:rFonts ascii="Roboto" hAnsi="Roboto" eastAsia="Roboto" cs="Roboto"/>
              </a:rPr>
              <a:t>Statistically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5132" y="3809999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EDD5"/>
                </a:solidFill>
                <a:latin typeface="Roboto"/>
                <a:rFonts ascii="Roboto" hAnsi="Roboto" eastAsia="Roboto" cs="Roboto"/>
              </a:rPr>
              <a:t>significant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453390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6258" y="4655408"/>
            <a:ext cx="209544" cy="11893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773" y="4495799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Churn rises after age 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773" y="476250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Notable increase in red bars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514350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6258" y="5242354"/>
            <a:ext cx="209544" cy="16424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66773" y="5105400"/>
            <a:ext cx="23335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Middle-aged customers at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773" y="5372100"/>
            <a:ext cx="23335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Consolidating finances or retiring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gradFill rotWithShape="1">
            <a:gsLst>
              <a:gs pos="0">
                <a:srgbClr val="3B82F6"/>
              </a:gs>
              <a:gs pos="100000">
                <a:srgbClr val="14B8A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505312" y="1304925"/>
            <a:ext cx="5876778" cy="504825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3961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97914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4: Churned Customers Have More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866899"/>
            <a:ext cx="4086122" cy="97155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78350F"/>
              </a:gs>
              <a:gs pos="100000">
                <a:srgbClr val="92400E"/>
              </a:gs>
            </a:gsLst>
            <a:lin scaled="0" ang="8100000"/>
          </a:gradFill>
          <a:ln w="825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2114964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397" y="2105024"/>
            <a:ext cx="5714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DE68A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5567" y="2028825"/>
            <a:ext cx="123821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$91,109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05" y="2486025"/>
            <a:ext cx="37622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DE68A"/>
                </a:solidFill>
                <a:latin typeface="Roboto"/>
                <a:rFonts ascii="Roboto" hAnsi="Roboto" eastAsia="Roboto" cs="Roboto"/>
              </a:rPr>
              <a:t>Avg account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2990849"/>
            <a:ext cx="4086122" cy="97155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1E293B"/>
              </a:gs>
              <a:gs pos="100000">
                <a:srgbClr val="334155"/>
              </a:gs>
            </a:gsLst>
            <a:lin scaled="0" ang="8100000"/>
          </a:gra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1505" y="3234565"/>
            <a:ext cx="266693" cy="2174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3228975"/>
            <a:ext cx="4667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1270" y="3152775"/>
            <a:ext cx="135251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$72,745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05" y="3609975"/>
            <a:ext cx="37622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Avg account balance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114800"/>
            <a:ext cx="4086122" cy="933449"/>
          </a:xfrm>
          <a:prstGeom prst="roundRect">
            <a:avLst>
              <a:gd name="adj" fmla="val 24489"/>
            </a:avLst>
          </a:prstGeom>
          <a:gradFill rotWithShape="1">
            <a:gsLst>
              <a:gs pos="0">
                <a:srgbClr val="EA580C"/>
              </a:gs>
              <a:gs pos="100000">
                <a:srgbClr val="DC2626"/>
              </a:gs>
            </a:gsLst>
            <a:lin scaled="0" ang="10800000"/>
          </a:gra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4499463"/>
            <a:ext cx="304792" cy="1641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0595" y="427672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EDD5"/>
                </a:solidFill>
                <a:latin typeface="Roboto"/>
                <a:rFonts ascii="Roboto" hAnsi="Roboto" eastAsia="Roboto" cs="Roboto"/>
              </a:rPr>
              <a:t>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595" y="4505325"/>
            <a:ext cx="133346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$18,364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5200650"/>
            <a:ext cx="4086122" cy="590549"/>
          </a:xfrm>
          <a:prstGeom prst="roundRect">
            <a:avLst>
              <a:gd name="adj" fmla="val 2580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71505" y="5422106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4397" y="5362575"/>
            <a:ext cx="32765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Bank is losing its most valuable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gradFill rotWithShape="1">
            <a:gsLst>
              <a:gs pos="0">
                <a:srgbClr val="F59E0B"/>
              </a:gs>
              <a:gs pos="100000">
                <a:srgbClr val="F9731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05312" y="1304925"/>
            <a:ext cx="5876778" cy="504825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5291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8151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1010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869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729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588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448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9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92771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5: Inactive Members Leave More Often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095499"/>
            <a:ext cx="1962100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2285792"/>
            <a:ext cx="266693" cy="2290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397" y="2286000"/>
            <a:ext cx="5333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Inactive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05" y="2609850"/>
            <a:ext cx="124774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26.85%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5447" y="2762249"/>
            <a:ext cx="3809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churn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081" y="2095499"/>
            <a:ext cx="1962100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14532D"/>
              </a:gs>
              <a:gs pos="100000">
                <a:srgbClr val="166534"/>
              </a:gs>
            </a:gsLst>
            <a:lin scaled="0" ang="8100000"/>
          </a:gradFill>
          <a:ln w="825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886002" y="2304635"/>
            <a:ext cx="266693" cy="191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28894" y="2286000"/>
            <a:ext cx="4286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BF7D0"/>
                </a:solidFill>
                <a:latin typeface="Roboto"/>
                <a:rFonts ascii="Roboto" hAnsi="Roboto" eastAsia="Roboto" cs="Roboto"/>
              </a:rP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6002" y="2609850"/>
            <a:ext cx="119059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14.27%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2796" y="2762249"/>
            <a:ext cx="3809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BF7D0"/>
                </a:solidFill>
                <a:latin typeface="Roboto"/>
                <a:rFonts ascii="Roboto" hAnsi="Roboto" eastAsia="Roboto" cs="Roboto"/>
              </a:rPr>
              <a:t>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295650"/>
            <a:ext cx="4086122" cy="1009649"/>
          </a:xfrm>
          <a:prstGeom prst="roundRect">
            <a:avLst>
              <a:gd name="adj" fmla="val 22641"/>
            </a:avLst>
          </a:prstGeom>
          <a:gradFill rotWithShape="1">
            <a:gsLst>
              <a:gs pos="0">
                <a:srgbClr val="DC2626"/>
              </a:gs>
              <a:gs pos="100000">
                <a:srgbClr val="EA580C"/>
              </a:gs>
            </a:gsLst>
            <a:lin scaled="0" ang="10800000"/>
          </a:gra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3727938"/>
            <a:ext cx="304792" cy="1641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0595" y="3695699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E2E2"/>
                </a:solidFill>
                <a:latin typeface="Roboto"/>
                <a:rFonts ascii="Roboto" hAnsi="Roboto" eastAsia="Roboto" cs="Roboto"/>
              </a:rPr>
              <a:t>Churn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5567" y="3467100"/>
            <a:ext cx="123821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5567" y="3924299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E2E2"/>
                </a:solidFill>
                <a:latin typeface="Roboto"/>
                <a:rFonts ascii="Roboto" hAnsi="Roboto" eastAsia="Roboto" cs="Roboto"/>
              </a:rPr>
              <a:t>Higher for inactive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495799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6258" y="4587574"/>
            <a:ext cx="209544" cy="178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6773" y="4457700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Directly controllable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773" y="4724399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Banks can influence activity level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510540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6258" y="5195758"/>
            <a:ext cx="209544" cy="1812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66773" y="5067299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Highest leverage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6773" y="5334000"/>
            <a:ext cx="22192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Re-engagement campaigns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5292" y="1257300"/>
            <a:ext cx="6276818" cy="5143500"/>
          </a:xfrm>
          <a:prstGeom prst="roundRect">
            <a:avLst>
              <a:gd name="adj" fmla="val 4444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9609" y="1581149"/>
            <a:ext cx="56481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Churn Rate by Membership 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9609" y="2114550"/>
            <a:ext cx="56481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2080"/>
              </a:spcAft>
            </a:pPr>
            <a:r>
              <a:rPr sz="107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Inactive members are far more likely to churn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5827" y="29146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Active Members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5827" y="34099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5827" y="3714750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5827" y="3714750"/>
            <a:ext cx="323841" cy="30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5827" y="40576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F87171"/>
                </a:solidFill>
                <a:latin typeface="Roboto"/>
                <a:rFonts ascii="Roboto" hAnsi="Roboto" eastAsia="Roboto" cs="Roboto"/>
              </a:rPr>
              <a:t>14.27%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5827" y="44767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5827" y="4781549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5827" y="4781549"/>
            <a:ext cx="1933526" cy="30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5827" y="5124449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85.73%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4681" y="29146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Inactive Members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4681" y="34099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24681" y="3714750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24681" y="3714750"/>
            <a:ext cx="609584" cy="30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24681" y="40576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F87171"/>
                </a:solidFill>
                <a:latin typeface="Roboto"/>
                <a:rFonts ascii="Roboto" hAnsi="Roboto" eastAsia="Roboto" cs="Roboto"/>
              </a:rPr>
              <a:t>26.85%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4681" y="44767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24681" y="4781549"/>
            <a:ext cx="2257368" cy="3048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24681" y="4781549"/>
            <a:ext cx="1657308" cy="30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24681" y="5124449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26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73.15%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1710" y="59055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0304" y="5867399"/>
            <a:ext cx="5714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10384" y="59055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38979" y="5867399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432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35291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58151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1010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869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6729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49588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72448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95307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3961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933426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6: The 45-59 Age Group is Highest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771650"/>
            <a:ext cx="4086122" cy="1390650"/>
          </a:xfrm>
          <a:prstGeom prst="roundRect">
            <a:avLst>
              <a:gd name="adj" fmla="val 16438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1958215"/>
            <a:ext cx="266693" cy="217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397" y="1952624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45-59 Age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05" y="2276474"/>
            <a:ext cx="170493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49.45%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636" y="2505074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churn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05" y="2809875"/>
            <a:ext cx="37622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Nearly half left the bank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314700"/>
            <a:ext cx="4086122" cy="1314450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1E3A8A"/>
              </a:gs>
              <a:gs pos="100000">
                <a:srgbClr val="1E40AF"/>
              </a:gs>
            </a:gsLst>
            <a:lin scaled="0" ang="8100000"/>
          </a:gradFill>
          <a:ln w="825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1505" y="3504164"/>
            <a:ext cx="266693" cy="2116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4397" y="3495675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Under-30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05" y="3819524"/>
            <a:ext cx="100009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7.56%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803" y="3971925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churn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05" y="4276725"/>
            <a:ext cx="37622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Roboto"/>
                <a:rFonts ascii="Roboto" hAnsi="Roboto" eastAsia="Roboto" cs="Roboto"/>
              </a:rPr>
              <a:t>Most loyal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81965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6258" y="4931633"/>
            <a:ext cx="209544" cy="1189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6773" y="478154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6.5x higher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773" y="5048250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45-59 vs under-30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42925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6258" y="5521410"/>
            <a:ext cx="209544" cy="15857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773" y="5391150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Clear age gradient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773" y="565785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Products fail older customers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gradFill rotWithShape="1">
            <a:gsLst>
              <a:gs pos="0">
                <a:srgbClr val="EF4444"/>
              </a:gs>
              <a:gs pos="100000">
                <a:srgbClr val="F9731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05312" y="1304925"/>
            <a:ext cx="5876778" cy="504825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432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5291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8151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1010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869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729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588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2448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5307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9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82770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7: Germany's Problem Runs Deep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933574"/>
            <a:ext cx="4086122" cy="10287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2121416"/>
            <a:ext cx="247643" cy="195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47" y="2105024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Germany + Exceptional 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05" y="2419349"/>
            <a:ext cx="100962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29.5%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7328" y="2571750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churn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076574"/>
            <a:ext cx="4086122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1E293B"/>
              </a:gs>
              <a:gs pos="100000">
                <a:srgbClr val="334155"/>
              </a:gs>
            </a:gsLst>
            <a:lin scaled="0" ang="8100000"/>
          </a:gra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1505" y="3255777"/>
            <a:ext cx="247643" cy="2130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5347" y="3248024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France + Poor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05" y="3562349"/>
            <a:ext cx="79055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17.8%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259" y="3667124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churn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181474"/>
            <a:ext cx="4086122" cy="666750"/>
          </a:xfrm>
          <a:prstGeom prst="roundRect">
            <a:avLst>
              <a:gd name="adj" fmla="val 34285"/>
            </a:avLst>
          </a:prstGeom>
          <a:gradFill rotWithShape="1">
            <a:gsLst>
              <a:gs pos="0">
                <a:srgbClr val="EA580C"/>
              </a:gs>
              <a:gs pos="100000">
                <a:srgbClr val="DC2626"/>
              </a:gs>
            </a:gsLst>
            <a:lin scaled="0" ang="10800000"/>
          </a:gra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3406" y="4414837"/>
            <a:ext cx="266693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4397" y="4305300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EDD5"/>
                </a:solidFill>
                <a:latin typeface="Roboto"/>
                <a:rFonts ascii="Roboto" hAnsi="Roboto" eastAsia="Roboto" cs="Roboto"/>
              </a:rPr>
              <a:t>Credit score doesn't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397" y="45339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EDD5"/>
                </a:solidFill>
                <a:latin typeface="Roboto"/>
                <a:rFonts ascii="Roboto" hAnsi="Roboto" eastAsia="Roboto" cs="Roboto"/>
              </a:rPr>
              <a:t>German churn is structural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500062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507178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575" y="49625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Market-level problem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541972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" y="5496485"/>
            <a:ext cx="190495" cy="1512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0575" y="5381624"/>
            <a:ext cx="19240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Competition or pricing issue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gradFill rotWithShape="1">
            <a:gsLst>
              <a:gs pos="0">
                <a:srgbClr val="EF4444"/>
              </a:gs>
              <a:gs pos="100000">
                <a:srgbClr val="F9731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05312" y="1304925"/>
            <a:ext cx="5876778" cy="504825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1002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3861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3877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6737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3961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782935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Finding 8: A Shocking Product Paradox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038349"/>
            <a:ext cx="1981150" cy="1066799"/>
          </a:xfrm>
          <a:prstGeom prst="roundRect">
            <a:avLst>
              <a:gd name="adj" fmla="val 21428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33406" y="2176333"/>
            <a:ext cx="209544" cy="181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1050" y="2171700"/>
            <a:ext cx="6476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4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06" y="2409825"/>
            <a:ext cx="90485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06" y="2828925"/>
            <a:ext cx="17335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All left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5032" y="2038349"/>
            <a:ext cx="1981150" cy="1066799"/>
          </a:xfrm>
          <a:prstGeom prst="roundRect">
            <a:avLst>
              <a:gd name="adj" fmla="val 21428"/>
            </a:avLst>
          </a:prstGeom>
          <a:gradFill rotWithShape="1">
            <a:gsLst>
              <a:gs pos="0">
                <a:srgbClr val="7C2D12"/>
              </a:gs>
              <a:gs pos="100000">
                <a:srgbClr val="9A3412"/>
              </a:gs>
            </a:gsLst>
            <a:lin scaled="0" ang="8100000"/>
          </a:gra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828854" y="2176333"/>
            <a:ext cx="209544" cy="181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76498" y="2171700"/>
            <a:ext cx="6476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ED7AA"/>
                </a:solidFill>
                <a:latin typeface="Roboto"/>
                <a:rFonts ascii="Roboto" hAnsi="Roboto" eastAsia="Roboto" cs="Roboto"/>
              </a:rPr>
              <a:t>3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8854" y="2409825"/>
            <a:ext cx="117154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82.71%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8854" y="2828925"/>
            <a:ext cx="17335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ED7AA"/>
                </a:solidFill>
                <a:latin typeface="Roboto"/>
                <a:rFonts ascii="Roboto" hAnsi="Roboto" eastAsia="Roboto" cs="Roboto"/>
              </a:rPr>
              <a:t>Most left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219449"/>
            <a:ext cx="4086122" cy="914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532D"/>
              </a:gs>
              <a:gs pos="100000">
                <a:srgbClr val="166534"/>
              </a:gs>
            </a:gsLst>
            <a:lin scaled="0" ang="8100000"/>
          </a:gradFill>
          <a:ln w="825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3406" y="3360552"/>
            <a:ext cx="247643" cy="2130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7248" y="3352800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BF7D0"/>
                </a:solidFill>
                <a:latin typeface="Roboto"/>
                <a:rFonts ascii="Roboto" hAnsi="Roboto" eastAsia="Roboto" cs="Roboto"/>
              </a:rPr>
              <a:t>2 Products = Optimal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06" y="3629025"/>
            <a:ext cx="100962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7.58%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9229" y="3781424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BF7D0"/>
                </a:solidFill>
                <a:latin typeface="Roboto"/>
                <a:rFonts ascii="Roboto" hAnsi="Roboto" eastAsia="Roboto" cs="Roboto"/>
              </a:rPr>
              <a:t>churn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248150"/>
            <a:ext cx="4086122" cy="495299"/>
          </a:xfrm>
          <a:prstGeom prst="roundRect">
            <a:avLst>
              <a:gd name="adj" fmla="val 46153"/>
            </a:avLst>
          </a:prstGeom>
          <a:gradFill rotWithShape="1">
            <a:gsLst>
              <a:gs pos="0">
                <a:srgbClr val="DC2626"/>
              </a:gs>
              <a:gs pos="100000">
                <a:srgbClr val="EA580C"/>
              </a:gs>
            </a:gsLst>
            <a:lin scaled="0" ang="10800000"/>
          </a:gra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3406" y="4397891"/>
            <a:ext cx="247643" cy="1958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7248" y="4381499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EE2E2"/>
                </a:solidFill>
                <a:latin typeface="Roboto"/>
                <a:rFonts ascii="Roboto" hAnsi="Roboto" eastAsia="Roboto" cs="Roboto"/>
              </a:rPr>
              <a:t>More products ≠ more loyalty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4895849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6733" y="496980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0575" y="4857750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Over-selling creates resentment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5314950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6733" y="5386107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0575" y="5276850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Customers feel trapped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gradFill rotWithShape="1">
            <a:gsLst>
              <a:gs pos="0">
                <a:srgbClr val="F97316"/>
              </a:gs>
              <a:gs pos="100000">
                <a:srgbClr val="EF444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05292" y="1104900"/>
            <a:ext cx="6276818" cy="5448300"/>
          </a:xfrm>
          <a:prstGeom prst="roundRect">
            <a:avLst>
              <a:gd name="adj" fmla="val 4195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505312" y="1304925"/>
            <a:ext cx="5876778" cy="504825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9572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432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5291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8151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81010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869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729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9588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2448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5307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8167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9" y="761999"/>
            <a:ext cx="3047923" cy="3047999"/>
          </a:xfrm>
          <a:prstGeom prst="roundRect">
            <a:avLst>
              <a:gd name="adj" fmla="val 50000"/>
            </a:avLst>
          </a:prstGeom>
          <a:solidFill>
            <a:srgbClr val="9333E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0"/>
            <a:ext cx="6267293" cy="4667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The High-Risk Customer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324100"/>
            <a:ext cx="4086122" cy="2571750"/>
          </a:xfrm>
          <a:prstGeom prst="roundRect">
            <a:avLst>
              <a:gd name="adj" fmla="val 11851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scaled="0" ang="8100000"/>
          </a:gra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47703" y="2600653"/>
            <a:ext cx="342891" cy="26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4892" y="2619374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ECACA"/>
                </a:solidFill>
                <a:latin typeface="Roboto"/>
                <a:rFonts ascii="Roboto" hAnsi="Roboto" eastAsia="Roboto" cs="Roboto"/>
              </a:rPr>
              <a:t>Most Likely to Churn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3074670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90595" y="3067050"/>
            <a:ext cx="5619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Female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3406140"/>
            <a:ext cx="228594" cy="217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0595" y="3409950"/>
            <a:ext cx="193352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Mid-40s (avg 44.8 years)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37604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0595" y="3752849"/>
            <a:ext cx="13810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German customer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47703" y="411194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0595" y="4095749"/>
            <a:ext cx="16477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High balance ($91k+)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7703" y="4446270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0595" y="4438649"/>
            <a:ext cx="129536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Inactive member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5086350"/>
            <a:ext cx="4086122" cy="914400"/>
          </a:xfrm>
          <a:prstGeom prst="roundRect">
            <a:avLst>
              <a:gd name="adj" fmla="val 25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9604" y="5309821"/>
            <a:ext cx="304792" cy="2579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8694" y="5286375"/>
            <a:ext cx="3266993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Valuable customers quietly slipping away - not problem 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5292" y="781050"/>
            <a:ext cx="6276818" cy="1200150"/>
          </a:xfrm>
          <a:prstGeom prst="roundRect">
            <a:avLst>
              <a:gd name="adj" fmla="val 19047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5312" y="981074"/>
            <a:ext cx="5876778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Average 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5312" y="127635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CA5A5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312" y="1466849"/>
            <a:ext cx="125726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44.8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4126" y="127635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3C5FD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4126" y="1466849"/>
            <a:ext cx="125726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37.4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940" y="1276350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Difference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940" y="1466849"/>
            <a:ext cx="101914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2DD4BF"/>
                </a:solidFill>
                <a:latin typeface="Roboto"/>
                <a:rFonts ascii="Roboto" hAnsi="Roboto" eastAsia="Roboto" cs="Roboto"/>
              </a:rPr>
              <a:t>+7 years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5292" y="2133599"/>
            <a:ext cx="6276818" cy="1200150"/>
          </a:xfrm>
          <a:prstGeom prst="roundRect">
            <a:avLst>
              <a:gd name="adj" fmla="val 19047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5312" y="2333624"/>
            <a:ext cx="5876778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Average Balance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5312" y="262890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CA5A5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5312" y="2819399"/>
            <a:ext cx="98105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$91,109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6978" y="262890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3C5FD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6978" y="2819399"/>
            <a:ext cx="98105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$72,745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8643" y="2628900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Difference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8643" y="2819399"/>
            <a:ext cx="113344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2DD4BF"/>
                </a:solidFill>
                <a:latin typeface="Roboto"/>
                <a:rFonts ascii="Roboto" hAnsi="Roboto" eastAsia="Roboto" cs="Roboto"/>
              </a:rPr>
              <a:t>+$18,364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5292" y="3486150"/>
            <a:ext cx="6276818" cy="1200150"/>
          </a:xfrm>
          <a:prstGeom prst="roundRect">
            <a:avLst>
              <a:gd name="adj" fmla="val 19047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5312" y="3686175"/>
            <a:ext cx="5876778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% Female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5312" y="3981449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CA5A5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5312" y="4171950"/>
            <a:ext cx="73340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55.9%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799" y="3981449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3C5FD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0799" y="4171950"/>
            <a:ext cx="73340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42.7%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05812" y="3981449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Difference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05812" y="4171950"/>
            <a:ext cx="87627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2DD4BF"/>
                </a:solidFill>
                <a:latin typeface="Roboto"/>
                <a:rFonts ascii="Roboto" hAnsi="Roboto" eastAsia="Roboto" cs="Roboto"/>
              </a:rPr>
              <a:t>+13.2%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5292" y="4838699"/>
            <a:ext cx="6276818" cy="1200150"/>
          </a:xfrm>
          <a:prstGeom prst="roundRect">
            <a:avLst>
              <a:gd name="adj" fmla="val 19047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05312" y="5038724"/>
            <a:ext cx="5876778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% Germany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5312" y="5334000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CA5A5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05312" y="5524499"/>
            <a:ext cx="73340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40.0%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6502" y="5334000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3C5FD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6502" y="5524499"/>
            <a:ext cx="73340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21.3%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67693" y="5334000"/>
            <a:ext cx="111439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Difference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67693" y="5524499"/>
            <a:ext cx="11143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87171"/>
                </a:solidFill>
                <a:latin typeface="Roboto"/>
                <a:rFonts ascii="Roboto" hAnsi="Roboto" eastAsia="Roboto" cs="Roboto"/>
              </a:rPr>
              <a:t>2x higher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5292" y="6191250"/>
            <a:ext cx="6276818" cy="1200150"/>
          </a:xfrm>
          <a:prstGeom prst="roundRect">
            <a:avLst>
              <a:gd name="adj" fmla="val 19047"/>
            </a:avLst>
          </a:prstGeom>
          <a:solidFill>
            <a:srgbClr val="1E293B">
              <a:alpha val="70000"/>
            </a:srgbClr>
          </a:solidFill>
          <a:ln w="825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5312" y="6391275"/>
            <a:ext cx="5876778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1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% Inactive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5312" y="6686550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CA5A5"/>
                </a:solidFill>
                <a:latin typeface="Roboto"/>
                <a:rFonts ascii="Roboto" hAnsi="Roboto" eastAsia="Roboto" cs="Roboto"/>
              </a:rPr>
              <a:t>Churned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05312" y="6877050"/>
            <a:ext cx="73340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63.9%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0799" y="6686550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3C5FD"/>
                </a:solidFill>
                <a:latin typeface="Roboto"/>
                <a:rFonts ascii="Roboto" hAnsi="Roboto" eastAsia="Roboto" cs="Roboto"/>
              </a:rPr>
              <a:t>Stayed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0799" y="6877050"/>
            <a:ext cx="73340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44.5%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05812" y="6686550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Difference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05812" y="6877050"/>
            <a:ext cx="87627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2DD4BF"/>
                </a:solidFill>
                <a:latin typeface="Roboto"/>
                <a:rFonts ascii="Roboto" hAnsi="Roboto" eastAsia="Roboto" cs="Roboto"/>
              </a:rPr>
              <a:t>+19.4%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81430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10024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238619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38779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067373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295967" y="6438899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3961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72448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Key Recommendations for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5371965" cy="1200150"/>
          </a:xfrm>
          <a:prstGeom prst="roundRect">
            <a:avLst>
              <a:gd name="adj" fmla="val 1904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04" y="13144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F1D1D"/>
          </a:soli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75" y="1390650"/>
            <a:ext cx="857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87171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419189" y="1354931"/>
            <a:ext cx="228594" cy="185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23981" y="1314450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Urgent Attention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9189" y="1657350"/>
            <a:ext cx="436234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Address 20.4% overall churn rate - represents significant revenue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505074"/>
            <a:ext cx="5371965" cy="971550"/>
          </a:xfrm>
          <a:prstGeom prst="roundRect">
            <a:avLst>
              <a:gd name="adj" fmla="val 2352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604" y="27050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C2D12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25" y="2781300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923C"/>
                </a:solidFill>
                <a:latin typeface="Montserrat"/>
                <a:rFonts ascii="Montserrat" hAnsi="Montserrat" eastAsia="Montserrat" cs="Montserrat"/>
              </a:rPr>
              <a:t>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419189" y="27412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23981" y="2705099"/>
            <a:ext cx="24859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German Market 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9189" y="3047999"/>
            <a:ext cx="43623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Dedicated intervention strategy required for 32% churn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667124"/>
            <a:ext cx="5371965" cy="971550"/>
          </a:xfrm>
          <a:prstGeom prst="roundRect">
            <a:avLst>
              <a:gd name="adj" fmla="val 2352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604" y="38671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13F12"/>
          </a:solidFill>
          <a:ln w="8255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25" y="3943350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ACC15"/>
                </a:solidFill>
                <a:latin typeface="Montserrat"/>
                <a:rFonts ascii="Montserrat" hAnsi="Montserrat" eastAsia="Montserrat" cs="Montserrat"/>
              </a:rPr>
              <a:t>3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419189" y="3917632"/>
            <a:ext cx="228594" cy="1657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23981" y="3867149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Re-engagement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9189" y="4210049"/>
            <a:ext cx="43623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Target inactive members - highest leverage action 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4" y="1114425"/>
            <a:ext cx="5371965" cy="971550"/>
          </a:xfrm>
          <a:prstGeom prst="roundRect">
            <a:avLst>
              <a:gd name="adj" fmla="val 2352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10164" y="13144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134E4A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2560" y="1390650"/>
            <a:ext cx="16192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DD4BF"/>
                </a:solidFill>
                <a:latin typeface="Montserrat"/>
                <a:rFonts ascii="Montserrat" hAnsi="Montserrat" eastAsia="Montserrat" cs="Montserrat"/>
              </a:rPr>
              <a:t>4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019749" y="1354931"/>
            <a:ext cx="228594" cy="1857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24541" y="1314450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Age-Specific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9749" y="1657350"/>
            <a:ext cx="43623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Create dedicated product for 45-59 age group (49% churn rate)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4" y="2276474"/>
            <a:ext cx="5371965" cy="971550"/>
          </a:xfrm>
          <a:prstGeom prst="roundRect">
            <a:avLst>
              <a:gd name="adj" fmla="val 2352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10164" y="24764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581C87"/>
          </a:solidFill>
          <a:ln w="8255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2085" y="2552700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084FC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19749" y="25126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24541" y="2476499"/>
            <a:ext cx="21430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Review Product Bundling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9749" y="2819399"/>
            <a:ext cx="43623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over-selling - customers with 3+ products churn at 82%+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0144" y="3438525"/>
            <a:ext cx="5371965" cy="1276350"/>
          </a:xfrm>
          <a:prstGeom prst="roundRect">
            <a:avLst>
              <a:gd name="adj" fmla="val 17910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48263" y="3931854"/>
            <a:ext cx="342891" cy="28969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43551" y="3676649"/>
            <a:ext cx="44004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Take Action 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3551" y="4019549"/>
            <a:ext cx="4400439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FBF1"/>
                </a:solidFill>
                <a:latin typeface="Roboto"/>
                <a:rFonts ascii="Roboto" hAnsi="Roboto" eastAsia="Roboto" cs="Roboto"/>
              </a:rPr>
              <a:t>Prioritize inactive members and German market for immediate impact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713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9572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2432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5291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58151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1010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3869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6729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9588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72448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5307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18167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1026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9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4386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Future Research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809749"/>
            <a:ext cx="5371965" cy="1276350"/>
          </a:xfrm>
          <a:prstGeom prst="roundRect">
            <a:avLst>
              <a:gd name="adj" fmla="val 179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03" y="2038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1E3A8A"/>
          </a:solidFill>
          <a:ln w="825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248" y="2133599"/>
            <a:ext cx="11429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60A5FA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585" y="2038349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Credit Score Threshold Effect?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585" y="2381250"/>
            <a:ext cx="417184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Does credit score truly not matter for German customers, or is there a threshold effect?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4" y="1809749"/>
            <a:ext cx="5371965" cy="1276350"/>
          </a:xfrm>
          <a:prstGeom prst="roundRect">
            <a:avLst>
              <a:gd name="adj" fmla="val 179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8263" y="2038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134E4A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234" y="2133599"/>
            <a:ext cx="17144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DD4BF"/>
                </a:solidFill>
                <a:latin typeface="Montserrat"/>
                <a:rFonts ascii="Montserrat" hAnsi="Montserrat" eastAsia="Montserrat" cs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2145" y="2038349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Inactivity Root 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2145" y="2381250"/>
            <a:ext cx="417184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Are inactive members inactive by choice, or because the bank's digital experience is poor?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314700"/>
            <a:ext cx="5371965" cy="1276350"/>
          </a:xfrm>
          <a:prstGeom prst="roundRect">
            <a:avLst>
              <a:gd name="adj" fmla="val 179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7703" y="35433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581C87"/>
          </a:solidFill>
          <a:ln w="8255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674" y="3638550"/>
            <a:ext cx="17144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C084FC"/>
                </a:solidFill>
                <a:latin typeface="Montserrat"/>
                <a:rFonts ascii="Montserrat" hAnsi="Montserrat" eastAsia="Montserrat" cs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585" y="3543300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Product Composition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585" y="3886200"/>
            <a:ext cx="417184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What specific products do 3-4 product customers hold that correlate with churn?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4" y="3314700"/>
            <a:ext cx="5371965" cy="1276350"/>
          </a:xfrm>
          <a:prstGeom prst="roundRect">
            <a:avLst>
              <a:gd name="adj" fmla="val 179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8263" y="35433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C2D12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9709" y="3638550"/>
            <a:ext cx="20001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B923C"/>
                </a:solidFill>
                <a:latin typeface="Montserrat"/>
                <a:rFonts ascii="Montserrat" hAnsi="Montserrat" eastAsia="Montserrat" cs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2145" y="3543300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Tenure &amp; Loyalty Relationship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2145" y="3886200"/>
            <a:ext cx="417184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How does churn vary by tenure — do long-term customers eventually become more loyal?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4819650"/>
            <a:ext cx="10972525" cy="1047749"/>
          </a:xfrm>
          <a:prstGeom prst="roundRect">
            <a:avLst>
              <a:gd name="adj" fmla="val 21818"/>
            </a:avLst>
          </a:prstGeom>
          <a:gradFill rotWithShape="1">
            <a:gsLst>
              <a:gs pos="0">
                <a:srgbClr val="1E3A8A"/>
              </a:gs>
              <a:gs pos="100000">
                <a:srgbClr val="0F172A"/>
              </a:gs>
            </a:gsLst>
            <a:lin scaled="0" ang="10800000"/>
          </a:gradFill>
          <a:ln w="825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7703" y="50482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F1D1D"/>
          </a:soli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674" y="5143500"/>
            <a:ext cx="17144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87171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1585" y="5048250"/>
            <a:ext cx="97724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Predictive Modeling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1585" y="5391150"/>
            <a:ext cx="97724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Can a predictive churn model flag at-risk customers 3-6 months before they leave?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283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8143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1002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3861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6721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9580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2440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5299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8159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1018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3877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6737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9596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2456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3961" y="761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9" y="3047999"/>
            <a:ext cx="3047923" cy="3047999"/>
          </a:xfrm>
          <a:prstGeom prst="roundRect">
            <a:avLst>
              <a:gd name="adj" fmla="val 6249375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9944" y="828675"/>
            <a:ext cx="3781330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040"/>
              </a:spcAft>
            </a:pPr>
            <a:r>
              <a:rPr sz="430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70" y="1666874"/>
            <a:ext cx="1828754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4B8A6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2260" y="1933574"/>
            <a:ext cx="50671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99F6E4"/>
                </a:solidFill>
                <a:latin typeface="Roboto"/>
                <a:rFonts ascii="Roboto" hAnsi="Roboto" eastAsia="Roboto" cs="Roboto"/>
              </a:rPr>
              <a:t>Data-Driven Insights for Better Customer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8914" y="27146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524161" y="2870752"/>
            <a:ext cx="266693" cy="1449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38499" y="2695575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20.4% Churn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8499" y="2962274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Demands immediate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4" y="27146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05392" y="2830167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9729" y="2695575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German Market Crisis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729" y="2962274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32% churn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8914" y="34385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24161" y="3552617"/>
            <a:ext cx="266693" cy="2290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38499" y="3419474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Inactive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8499" y="3686175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Highest leverage opportunity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4" y="34385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05392" y="3562764"/>
            <a:ext cx="266693" cy="2087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9729" y="3419474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Strong Predictors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729" y="3686175"/>
            <a:ext cx="17335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Age &amp; product complexity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3706" y="4371975"/>
            <a:ext cx="4733806" cy="1047749"/>
          </a:xfrm>
          <a:prstGeom prst="roundRect">
            <a:avLst>
              <a:gd name="adj" fmla="val 2181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1825" y="4610099"/>
            <a:ext cx="42575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Retention Strategy Must Be Targeted, Not Broad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1825" y="4952999"/>
            <a:ext cx="42575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Focus on high-risk segments with the greatest potential impact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28914" y="5844988"/>
            <a:ext cx="190495" cy="1400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95607" y="5800725"/>
            <a:ext cx="21240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e.agyemang@northeastern.edu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24421" y="5839385"/>
            <a:ext cx="190495" cy="1512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91115" y="5800725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Northeastern University, Vancouver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853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6713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9572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2432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5291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8151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1010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3869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67293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5887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4481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53076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181670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10264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38859" y="64388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